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Записей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761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ИНН неверной длины</c:v>
                </c:pt>
                <c:pt idx="1">
                  <c:v>Пассивные точки</c:v>
                </c:pt>
                <c:pt idx="2">
                  <c:v>Прикрепления без дня визита</c:v>
                </c:pt>
                <c:pt idx="3">
                  <c:v>Дубли ИНН</c:v>
                </c:pt>
                <c:pt idx="4">
                  <c:v>ИНН испорчен Excel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1172</c:v>
                </c:pt>
                <c:pt idx="1">
                  <c:v>2349</c:v>
                </c:pt>
                <c:pt idx="2">
                  <c:v>795</c:v>
                </c:pt>
                <c:pt idx="3">
                  <c:v>225</c:v>
                </c:pt>
                <c:pt idx="4">
                  <c:v>867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A3-4644-88D1-B29412AB0FB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8ED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3422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Начните с того, что система выросла из реальной боли: заявки в чатах и Excel-файлы, которые приходилось перепроверять вручную. Это делалось внутри компании, без подрядчиков.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важно назвать цену вопроса: время администратора уходило не на анализ, а на вычитку чужих таблиц.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ваша идея и ваша инициатива — скажите об этом прямо. Задачу никто не ставил.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Подчеркните: первый этап тоже был вашим, и он окупился — но упёрся в потолок инструмента. Второй этап снял потолок.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Панель бренда — самое новое и самое интересное для руководителей: покажите её живьём.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Главное отличие не в скорости, а в том, что данные больше не проходят через ручную вычитку.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прямой ответ на человеческий фактор: ошибиться теперь просто не даёт программа.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Сильный слайд для руководства: система не просто перенесла данные, а показала, где база была битой всё это время.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Один предотвращённый дубль — это часы ручной чистки и корректная отчётность по клиенту.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стоит открыть панель на телефоне и показать живьём: 59 агентов, поиск, точки.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 экономию времени говорите их числами: спросите, сколько заявок в неделю и сколько времени уходило на сверку одного файла. Считать пусть будут сами.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Заканчивайте живой демонстрацией: бот, приложение и панель бренда на телефоне. Введите реальный ИНН — это убеждает сильнее слайдов.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Relationship Id="rId4" Type="http://schemas.openxmlformats.org/officeDocument/2006/relationships/image" Target="../media/image17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Relationship Id="rId4" Type="http://schemas.openxmlformats.org/officeDocument/2006/relationships/image" Target="../media/image20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Relationship Id="rId4" Type="http://schemas.openxmlformats.org/officeDocument/2006/relationships/image" Target="../media/image2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 переписки в чатах — к системе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21945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Автоматизация прикрепления и регистрации торговых точек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Telegram-бот, приложение для агентов и </a:t>
            </a:r>
            <a:r>
              <a:rPr lang="en-US" sz="1400" i="1" dirty="0" err="1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панель</a:t>
            </a:r>
            <a:r>
              <a:rPr lang="en-US" sz="1400" i="1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400" i="1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агентов для супервайзеров</a:t>
            </a:r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27 513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22960" y="4663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торговых точек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520440" y="4114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155 186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3520440" y="4663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прикреплений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0" y="4114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6217920" y="4663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файлов в переписке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15400" y="4114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8915400" y="4663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само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это работало раньше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Заявка от агента до попадания в базу проходила через людей и файлы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101600" dist="25400" dir="5400000" algn="bl" rotWithShape="0">
              <a:srgbClr val="8899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664208" y="20116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664208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Чаты и группы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31089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писал заявку в Telegram-группу. Заявки терялись в переписке, часть приходилось искать поиском по чату.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178308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101600" dist="25400" dir="5400000" algn="bl" rotWithShape="0">
              <a:srgbClr val="8899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453128" y="20116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53128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2697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Excel-файл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30168" y="31089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Прикрепления собирались в </a:t>
            </a:r>
            <a:r>
              <a:rPr lang="ru-RU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Формат у каждого свой: где-то ИНН с пробелами, где-то название с ошибкой.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78308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101600" dist="25400" dir="5400000" algn="bl" rotWithShape="0">
              <a:srgbClr val="8899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242048" y="20116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242048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2697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Круги правок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19088" y="31089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 возвращался на исправление и присылался заново — по несколько раз, пока всё не сойдётся.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06840" y="178308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101600" dist="25400" dir="5400000" algn="bl" rotWithShape="0">
              <a:srgbClr val="8899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030968" y="201168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030968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06840" y="2697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Ручная сверка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08008" y="31089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 добавлением в базу каждую строку проверял человек. Это и было узкое место всего процесса.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89204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4F7FB"/>
          </a:solidFill>
          <a:ln w="12700">
            <a:solidFill>
              <a:srgbClr val="E3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05840" y="512064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и тот же файл готовился и пересылался несколько раз — и всё равно требовал ручной проверки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51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Отсюда родилась идея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920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«Если данные каждый раз приходится исправлять руками — значит, их нужно проверять на входе, а не после»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22960" y="3246120"/>
            <a:ext cx="10515600" cy="731520"/>
          </a:xfrm>
          <a:prstGeom prst="roundRect">
            <a:avLst>
              <a:gd name="adj" fmla="val 10000"/>
            </a:avLst>
          </a:prstGeom>
          <a:solidFill>
            <a:srgbClr val="2A3A7C"/>
          </a:solidFill>
          <a:ln w="12700">
            <a:solidFill>
              <a:srgbClr val="3A4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97280" y="3364992"/>
            <a:ext cx="493776" cy="49377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33649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83080" y="3429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Убрать переписку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0" y="344728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Заявка подаётся в одном месте, по одной форме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4114800"/>
            <a:ext cx="10515600" cy="731520"/>
          </a:xfrm>
          <a:prstGeom prst="roundRect">
            <a:avLst>
              <a:gd name="adj" fmla="val 10000"/>
            </a:avLst>
          </a:prstGeom>
          <a:solidFill>
            <a:srgbClr val="2A3A7C"/>
          </a:solidFill>
          <a:ln w="12700">
            <a:solidFill>
              <a:srgbClr val="3A4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97280" y="4233672"/>
            <a:ext cx="493776" cy="49377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97280" y="42336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83080" y="4297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Убрать файлы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0" y="431596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сразу попадают в базу, без пересылки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4983480"/>
            <a:ext cx="10515600" cy="731520"/>
          </a:xfrm>
          <a:prstGeom prst="roundRect">
            <a:avLst>
              <a:gd name="adj" fmla="val 10000"/>
            </a:avLst>
          </a:prstGeom>
          <a:solidFill>
            <a:srgbClr val="2A3A7C"/>
          </a:solidFill>
          <a:ln w="12700">
            <a:solidFill>
              <a:srgbClr val="3A4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97280" y="5102352"/>
            <a:ext cx="493776" cy="49377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97280" y="51023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783080" y="5166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Убрать человеческий фактор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0" y="518464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Проверки выполняет программа, а не внимательность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система развивалась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Сделано внутри компании, без подрядчиков и закупки ПО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47173"/>
            <a:ext cx="52578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101600" dist="25400" dir="5400000" algn="bl" rotWithShape="0">
              <a:srgbClr val="8899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Первая автоматизация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257800" cy="3200400"/>
          </a:xfrm>
          <a:prstGeom prst="roundRect">
            <a:avLst>
              <a:gd name="adj" fmla="val 22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2940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2 — СЕЙЧАС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29400" y="22860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Настоящая база данных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70774" y="2715853"/>
            <a:ext cx="472710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вместо таблицы</a:t>
            </a:r>
            <a:endParaRPr lang="en-US" sz="1300" dirty="0">
              <a:solidFill>
                <a:srgbClr val="002060"/>
              </a:solidFill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Telegram-</a:t>
            </a:r>
            <a:r>
              <a:rPr lang="en-US" sz="1300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бот</a:t>
            </a:r>
            <a:r>
              <a:rPr lang="en-US" sz="13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</a:t>
            </a:r>
            <a:r>
              <a:rPr lang="en-US" sz="13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агентов</a:t>
            </a:r>
            <a:endParaRPr lang="en-US" sz="1300" dirty="0">
              <a:solidFill>
                <a:srgbClr val="002060"/>
              </a:solidFill>
            </a:endParaRPr>
          </a:p>
          <a:p>
            <a:pPr marL="285750" indent="-285750">
              <a:spcAft>
                <a:spcPts val="700"/>
              </a:spcAft>
              <a:buSzPct val="100000"/>
              <a:buFont typeface="Arial" panose="020B0604020202020204" pitchFamily="34" charset="0"/>
              <a:buChar char="•"/>
            </a:pPr>
            <a:r>
              <a:rPr lang="ru-RU" sz="13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Установлены </a:t>
            </a:r>
            <a:r>
              <a:rPr lang="en-US" sz="1300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</a:t>
            </a:r>
            <a:r>
              <a:rPr lang="ru-RU" sz="13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которые были в Шаблон </a:t>
            </a:r>
            <a:r>
              <a:rPr lang="en-US" sz="1300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проверяются</a:t>
            </a:r>
            <a:r>
              <a:rPr lang="en-US" sz="13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автоматически</a:t>
            </a:r>
            <a:endParaRPr lang="en-US" sz="1300" dirty="0">
              <a:solidFill>
                <a:srgbClr val="00206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6629400" y="43434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точки — доли секунды. Ошибочные данные не попадают в базу вообще</a:t>
            </a:r>
            <a:endParaRPr lang="en-US" sz="115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D88321E3-9CA2-A714-1F25-71316B0F26C7}"/>
              </a:ext>
            </a:extLst>
          </p:cNvPr>
          <p:cNvSpPr/>
          <p:nvPr/>
        </p:nvSpPr>
        <p:spPr>
          <a:xfrm>
            <a:off x="6629400" y="2682952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r>
              <a:rPr lang="ru-RU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приложение </a:t>
            </a:r>
            <a:r>
              <a:rPr lang="en-US" sz="13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</a:t>
            </a: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агентов</a:t>
            </a: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супервайзеров</a:t>
            </a:r>
            <a:endParaRPr lang="en-US" sz="130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Панель</a:t>
            </a: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супервайзеров где видны проблемные точки</a:t>
            </a:r>
            <a:endParaRPr lang="en-US" sz="130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ru-RU" sz="13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Усовершенноые</a:t>
            </a:r>
            <a:r>
              <a:rPr lang="ru-RU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Бизнес-правила</a:t>
            </a: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каждого контрагента только один агент с брэнда и мин 3 дня недели</a:t>
            </a:r>
            <a:endParaRPr lang="en-US" sz="13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Из чего состоит система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интерфейса под три разные задачи — и одна общая база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747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101600" dist="25400" dir="5400000" algn="bl" rotWithShape="0">
              <a:srgbClr val="8899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103120" y="20116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10312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Telegram-бот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6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агента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34290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Кнопочный сценарий прямо в мессенджере. Не нужно ничего устанавливать и ничему учиться.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1783080"/>
            <a:ext cx="34747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101600" dist="25400" dir="5400000" algn="bl" rotWithShape="0">
              <a:srgbClr val="8899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806440" y="20116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8064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43400" y="2697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Приложение агента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343400" y="3063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6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агента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617720" y="34290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на одном экране: карта для геометки, поиск по 213 районам, проверки при вводе.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46720" y="1783080"/>
            <a:ext cx="34747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101600" dist="25400" dir="5400000" algn="bl" rotWithShape="0">
              <a:srgbClr val="8899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509760" y="2011680"/>
            <a:ext cx="548640" cy="5486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50976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46720" y="2697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Панель бренда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046720" y="307178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60" dirty="0" err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</a:t>
            </a:r>
            <a:r>
              <a:rPr lang="en-US" sz="1150" b="1" kern="0" spc="6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50" b="1" kern="0" spc="6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супервайзеров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321040" y="34290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своих агентов, их точки и дни визитов. Поиск по агенту и по точке.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512064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F4F7FB"/>
          </a:solidFill>
          <a:ln w="12700">
            <a:solidFill>
              <a:srgbClr val="E3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05840" y="528523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проверяются на сервере — одинаково для всех трёх интерфейсов, обойти их нельзя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Путь одной заявки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Слева — как было, справа — как стало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F0D5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БЫЛО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0120" y="2377440"/>
            <a:ext cx="292608" cy="292608"/>
          </a:xfrm>
          <a:prstGeom prst="ellipse">
            <a:avLst/>
          </a:prstGeom>
          <a:solidFill>
            <a:srgbClr val="F0D5D2"/>
          </a:solidFill>
          <a:ln w="12700">
            <a:solidFill>
              <a:srgbClr val="F0D5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2377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35000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пишет в группу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0120" y="2834640"/>
            <a:ext cx="292608" cy="292608"/>
          </a:xfrm>
          <a:prstGeom prst="ellipse">
            <a:avLst/>
          </a:prstGeom>
          <a:solidFill>
            <a:srgbClr val="F0D5D2"/>
          </a:solidFill>
          <a:ln w="12700">
            <a:solidFill>
              <a:srgbClr val="F0D5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60120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80720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Супервайзер</a:t>
            </a: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собирает Excel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60120" y="3291840"/>
            <a:ext cx="292608" cy="292608"/>
          </a:xfrm>
          <a:prstGeom prst="ellipse">
            <a:avLst/>
          </a:prstGeom>
          <a:solidFill>
            <a:srgbClr val="F0D5D2"/>
          </a:solidFill>
          <a:ln w="12700">
            <a:solidFill>
              <a:srgbClr val="F0D5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6012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26440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 уходит на правки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60120" y="3749040"/>
            <a:ext cx="292608" cy="292608"/>
          </a:xfrm>
          <a:prstGeom prst="ellipse">
            <a:avLst/>
          </a:prstGeom>
          <a:solidFill>
            <a:srgbClr val="F0D5D2"/>
          </a:solidFill>
          <a:ln w="12700">
            <a:solidFill>
              <a:srgbClr val="F0D5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6012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72160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 присылают заново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60120" y="4206240"/>
            <a:ext cx="292608" cy="292608"/>
          </a:xfrm>
          <a:prstGeom prst="ellipse">
            <a:avLst/>
          </a:prstGeom>
          <a:solidFill>
            <a:srgbClr val="F0D5D2"/>
          </a:solidFill>
          <a:ln w="12700">
            <a:solidFill>
              <a:srgbClr val="F0D5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60120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417880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Ручная сверка каждой строки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60120" y="4663440"/>
            <a:ext cx="292608" cy="292608"/>
          </a:xfrm>
          <a:prstGeom prst="ellipse">
            <a:avLst/>
          </a:prstGeom>
          <a:solidFill>
            <a:srgbClr val="F0D5D2"/>
          </a:solidFill>
          <a:ln w="12700">
            <a:solidFill>
              <a:srgbClr val="F0D5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60120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463600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в базу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5029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несколько дней и несколько человек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63640" y="1783080"/>
            <a:ext cx="525780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8E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58368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СТАЛО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583680" y="2377440"/>
            <a:ext cx="292608" cy="292608"/>
          </a:xfrm>
          <a:prstGeom prst="ellipse">
            <a:avLst/>
          </a:prstGeom>
          <a:solidFill>
            <a:srgbClr val="C8EFE8"/>
          </a:solidFill>
          <a:ln w="12700">
            <a:solidFill>
              <a:srgbClr val="C8E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583680" y="2377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95160" y="235000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вводит ИНН в боте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583680" y="2834640"/>
            <a:ext cx="292608" cy="292608"/>
          </a:xfrm>
          <a:prstGeom prst="ellipse">
            <a:avLst/>
          </a:prstGeom>
          <a:solidFill>
            <a:srgbClr val="C8EFE8"/>
          </a:solidFill>
          <a:ln w="12700">
            <a:solidFill>
              <a:srgbClr val="C8E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83680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95160" y="280720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сама находит точку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583680" y="3291840"/>
            <a:ext cx="292608" cy="292608"/>
          </a:xfrm>
          <a:prstGeom prst="ellipse">
            <a:avLst/>
          </a:prstGeom>
          <a:solidFill>
            <a:srgbClr val="C8EFE8"/>
          </a:solidFill>
          <a:ln w="12700">
            <a:solidFill>
              <a:srgbClr val="C8E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58368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995160" y="326440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Проверки проходят на месте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583680" y="3749040"/>
            <a:ext cx="292608" cy="292608"/>
          </a:xfrm>
          <a:prstGeom prst="ellipse">
            <a:avLst/>
          </a:prstGeom>
          <a:solidFill>
            <a:srgbClr val="C8EFE8"/>
          </a:solidFill>
          <a:ln w="12700">
            <a:solidFill>
              <a:srgbClr val="C8E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58368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995160" y="372160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сразу в базе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583680" y="4251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минута и один человек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583680" y="461772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Оператор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получает готовую карточку заявки в Telegram: агент, геометка, все поля, время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Правила теперь соблюдаются сами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Раньше их держали в голове администратор и агенты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101600" dist="25400" dir="5400000" algn="bl" rotWithShape="0">
              <a:srgbClr val="8899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2057400"/>
            <a:ext cx="502920" cy="5029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20848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Максимум 3 дня визита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262432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агент — не больше трёх дней на точку. Занято два — система даст выбрать только один.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101600" dist="25400" dir="5400000" algn="bl" rotWithShape="0">
              <a:srgbClr val="8899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92240" y="2057400"/>
            <a:ext cx="502920" cy="5029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9224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32320" y="20848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Один бренд — один агент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92240" y="262432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Точку, где уже стоит агент вашего бренда, второй занять не сможет.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74904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101600" dist="25400" dir="5400000" algn="bl" rotWithShape="0">
              <a:srgbClr val="8899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60120" y="4023360"/>
            <a:ext cx="502920" cy="5029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6012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0200" y="40507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Пассивные точки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60120" y="459028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Работать с ними нельзя: агент сразу видит предупреждение и идёт в финансовый отдел.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74904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101600" dist="25400" dir="5400000" algn="bl" rotWithShape="0">
              <a:srgbClr val="8899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92240" y="4023360"/>
            <a:ext cx="502920" cy="5029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9224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32320" y="40507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Форматы данных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92240" y="459028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ИНН строго 9 или 14 цифр, телефон +998XXXXXXXXX, название латиницей, адрес заглавными.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Переезд вскрыл ошибки прошлых лет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То, что раньше терялось при ручной сверке</a:t>
            </a:r>
            <a:endParaRPr lang="en-US" sz="15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2922968"/>
              </p:ext>
            </p:extLst>
          </p:nvPr>
        </p:nvGraphicFramePr>
        <p:xfrm>
          <a:off x="640080" y="1737360"/>
          <a:ext cx="640080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360920" y="1737360"/>
            <a:ext cx="4160520" cy="18288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>
            <a:solidFill>
              <a:srgbClr val="E3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680960" y="1920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2 349 точек-невидимок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80960" y="228600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Их ИНН были помечены символами, и поиск их не находил. Агент видел «точки нет» и заводил дубль.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360920" y="3794760"/>
            <a:ext cx="4160520" cy="1828800"/>
          </a:xfrm>
          <a:prstGeom prst="roundRect">
            <a:avLst>
              <a:gd name="adj" fmla="val 4000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680960" y="3977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Теперь видно каждую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680960" y="434340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непринятая строка попадает в отчёт с номером и причиной. Ответственный видит, что чинить, и не ищет вручную.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Опечатка больше не создаёт второго клиента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узнаёт точку, даже если название написано иначе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F0D5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1965960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19933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Было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2487168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ошибся в ИНН, не нашёл точку и завёл её заново. В базе два клиента вместо одного — и заметить это мог только человек при сверке.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8E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83680" y="1965960"/>
            <a:ext cx="45720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23760" y="19933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Стало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83680" y="2487168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вводе названия система показывает похожие точки с их ИНН и спрашивает: «это она?». Один тап — и вместо дубля идёт прикрепление.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114800"/>
            <a:ext cx="10881360" cy="1600200"/>
          </a:xfrm>
          <a:prstGeom prst="roundRect">
            <a:avLst>
              <a:gd name="adj" fmla="val 457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05840" y="4297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Примеры, которые система ловит сама: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47091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вводит «MUHAYO TRADE»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852160" y="47091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базе есть «MUXAYYO TRADE»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51206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вводит «OSIYO MARKET»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03520" y="51206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852160" y="51206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базе есть «OSIYO MARKET MCHJ»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Панель</a:t>
            </a: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ru-RU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Супервайзера</a:t>
            </a: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контроль без запросов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 смотрит своих агентов сам, не спрашивая никого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675120" cy="1005840"/>
          </a:xfrm>
          <a:prstGeom prst="roundRect">
            <a:avLst>
              <a:gd name="adj" fmla="val 7273"/>
            </a:avLst>
          </a:prstGeom>
          <a:solidFill>
            <a:srgbClr val="F4F7FB"/>
          </a:solidFill>
          <a:ln w="12700">
            <a:solidFill>
              <a:srgbClr val="E3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2039112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039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192938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Свои агенты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600200" y="227685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</a:t>
            </a: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супервайзер</a:t>
            </a: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видит только своих. Сразу понятно, кто работает, а кто простаивает.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926080"/>
            <a:ext cx="66751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14400" y="3182112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3182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00200" y="307238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Точки агента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600200" y="341985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точек с названием, кодом, ИНН и днями визитов. Поиск по названию и ИНН.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069080"/>
            <a:ext cx="66751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4400" y="4325112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4325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0200" y="421538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Пассивные видно сразу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600200" y="456285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помечена прямо в списке — не нужно сверяться с финансовым отделом.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680960" y="1783080"/>
            <a:ext cx="3840480" cy="3429000"/>
          </a:xfrm>
          <a:prstGeom prst="roundRect">
            <a:avLst>
              <a:gd name="adj" fmla="val 21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001000" y="2011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из работы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01000" y="2468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3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8001000" y="2926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агентов у </a:t>
            </a:r>
            <a:r>
              <a:rPr lang="ru-RU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супервайзера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01000" y="3383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1705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8001000" y="3840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001000" y="4297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105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8001000" y="4754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точки с проблемами</a:t>
            </a:r>
          </a:p>
        </p:txBody>
      </p:sp>
      <p:sp>
        <p:nvSpPr>
          <p:cNvPr id="27" name="Text 25"/>
          <p:cNvSpPr/>
          <p:nvPr/>
        </p:nvSpPr>
        <p:spPr>
          <a:xfrm>
            <a:off x="640080" y="53492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Раньше такие цифры собирались выгрузкой и пересылкой файла</a:t>
            </a:r>
            <a:endParaRPr lang="en-US" sz="1300" dirty="0"/>
          </a:p>
        </p:txBody>
      </p:sp>
      <p:sp>
        <p:nvSpPr>
          <p:cNvPr id="28" name="Text 20">
            <a:extLst>
              <a:ext uri="{FF2B5EF4-FFF2-40B4-BE49-F238E27FC236}">
                <a16:creationId xmlns:a16="http://schemas.microsoft.com/office/drawing/2014/main" id="{53776C3E-1106-A364-0EE5-20089F45142E}"/>
              </a:ext>
            </a:extLst>
          </p:cNvPr>
          <p:cNvSpPr/>
          <p:nvPr/>
        </p:nvSpPr>
        <p:spPr>
          <a:xfrm>
            <a:off x="8001000" y="39090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2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количестао</a:t>
            </a:r>
            <a:r>
              <a:rPr lang="ru-RU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точек </a:t>
            </a:r>
            <a:r>
              <a:rPr lang="en-US" sz="12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агентов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это даёт компании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эффекта, которые видно уже сейчас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101600" dist="25400" dir="5400000" algn="bl" rotWithShape="0">
              <a:srgbClr val="8899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20574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20848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Время</a:t>
            </a: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ru-RU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оператора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262432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Ручная сверка Excel-файлов и переписка по правкам ушли из процесса полностью.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101600" dist="25400" dir="5400000" algn="bl" rotWithShape="0">
              <a:srgbClr val="8899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92240" y="20574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9224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32320" y="20848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Чистая клиентская база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92240" y="262432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Дубли не заводятся, пассивные точки не уходят в работу, форматы приведены к единому виду.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74904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101600" dist="25400" dir="5400000" algn="bl" rotWithShape="0">
              <a:srgbClr val="8899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60120" y="402336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6012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0200" y="40507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Прозрачность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60120" y="459028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заявка именная: агент, время, геометка. Спор «кто занял точку» решается запросом к базе.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74904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101600" dist="25400" dir="5400000" algn="bl" rotWithShape="0">
              <a:srgbClr val="8899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92240" y="4023360"/>
            <a:ext cx="502920" cy="5029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9224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32320" y="40507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Независимость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92240" y="459028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сделана внутри компании. Знания и доступы остаются здесь, лицензий покупать не нужно.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Отдельно: система уже показала 4 248 проблемных записей в старых данных — их чинят точечно, а не ищут вручную.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6074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можно добавить дальше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44654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Фундамент готов — каждый пункт строится на нём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223188"/>
            <a:ext cx="10881360" cy="896112"/>
          </a:xfrm>
          <a:prstGeom prst="roundRect">
            <a:avLst>
              <a:gd name="adj" fmla="val 8163"/>
            </a:avLst>
          </a:prstGeom>
          <a:solidFill>
            <a:srgbClr val="F4F7FB"/>
          </a:solidFill>
          <a:ln w="12700">
            <a:solidFill>
              <a:srgbClr val="E3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2424356"/>
            <a:ext cx="493776" cy="49377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4243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233291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Отчёты для руководства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600200" y="268038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точек прикрепил каждый агент, динамика по неделям, покрытие по областям.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274748"/>
            <a:ext cx="108813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14400" y="3475916"/>
            <a:ext cx="493776" cy="4937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347591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00200" y="338447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Личный кабинет агента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600200" y="37319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Свои точки и дни визитов, план на неделю прямо в Telegram.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326308"/>
            <a:ext cx="108813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4400" y="4527476"/>
            <a:ext cx="493776" cy="4937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45274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0200" y="443603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Фотоотчёт с точки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600200" y="478350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Снимок витрины вместе с геометкой — подтверждение, что визит состоялся.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14400" y="55790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и сроки — по приоритетам бизнеса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Система работает и растёт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2057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первой версии на таблице — до базы данных, трёх интерфейсов и автоматических правил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926080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2A3A7C"/>
          </a:solidFill>
          <a:ln w="12700">
            <a:solidFill>
              <a:srgbClr val="3A4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" y="3154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сделано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931920" y="31546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Бот, приложение агента, панель бренда, база, перенос данных, бизнес-правила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3886200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2A3A7C"/>
          </a:solidFill>
          <a:ln w="12700">
            <a:solidFill>
              <a:srgbClr val="3A4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43000" y="4114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дальше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931920" y="41148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Отчётность для руководства и личный кабинет агента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4846320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2A3A7C"/>
          </a:solidFill>
          <a:ln w="12700">
            <a:solidFill>
              <a:srgbClr val="3A4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43000" y="5074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нужно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31920" y="50749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по следующему этапу и оценка выполненной работы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 показать систему в работе прямо сейчас — с телефона, на живых данных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Как это выглядит в работе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461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Живые экраны: Telegram-бот и приложение агента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49039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9FB3D9"/>
                </a:solidFill>
                <a:latin typeface="Calibri"/>
              </a:rPr>
              <a:t>Снимки сделаны на рабочей системе, данные настоящие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Бот: вход и прикрепление точки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A6478"/>
                </a:solidFill>
                <a:latin typeface="Calibri"/>
              </a:rPr>
              <a:t>Агент вводит логин, затем ИНН — система сама находит точку в базе</a:t>
            </a:r>
          </a:p>
        </p:txBody>
      </p:sp>
      <p:pic>
        <p:nvPicPr>
          <p:cNvPr id="4" name="Picture 3" descr="photo_1_2026-08-28_16-44-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6741" y="1691640"/>
            <a:ext cx="1963209" cy="4251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95281" y="6089904"/>
            <a:ext cx="246612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5A6478"/>
                </a:solidFill>
                <a:latin typeface="Calibri"/>
              </a:rPr>
              <a:t>Вход по логину агента</a:t>
            </a:r>
          </a:p>
        </p:txBody>
      </p:sp>
      <p:pic>
        <p:nvPicPr>
          <p:cNvPr id="6" name="Picture 5" descr="photo_2_2026-08-28_16-44-4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2871" y="1691640"/>
            <a:ext cx="1963209" cy="4251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61411" y="6089904"/>
            <a:ext cx="246612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5A6478"/>
                </a:solidFill>
                <a:latin typeface="Calibri"/>
              </a:rPr>
              <a:t>Точка найдена — выбор дней визита</a:t>
            </a:r>
          </a:p>
        </p:txBody>
      </p:sp>
      <p:pic>
        <p:nvPicPr>
          <p:cNvPr id="8" name="Picture 7" descr="photo_3_2026-08-28_16-44-4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9000" y="1691640"/>
            <a:ext cx="1963209" cy="4251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27540" y="6089904"/>
            <a:ext cx="246612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5A6478"/>
                </a:solidFill>
                <a:latin typeface="Calibri"/>
              </a:rPr>
              <a:t>Проверка данных перед отправкой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Бот: ошибиться не даёт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A6478"/>
                </a:solidFill>
                <a:latin typeface="Calibri"/>
              </a:rPr>
              <a:t>Правила и форматы проверяются на месте, а не после — при ручной сверке</a:t>
            </a:r>
          </a:p>
        </p:txBody>
      </p:sp>
      <p:pic>
        <p:nvPicPr>
          <p:cNvPr id="4" name="Picture 3" descr="photo_4_2026-08-28_16-44-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6741" y="1691640"/>
            <a:ext cx="1963209" cy="4251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95281" y="6089904"/>
            <a:ext cx="246612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5A6478"/>
                </a:solidFill>
                <a:latin typeface="Calibri"/>
              </a:rPr>
              <a:t>Точка занята агентом того же бренда</a:t>
            </a:r>
          </a:p>
        </p:txBody>
      </p:sp>
      <p:pic>
        <p:nvPicPr>
          <p:cNvPr id="6" name="Picture 5" descr="photo_5_2026-08-28_16-44-4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2871" y="1691640"/>
            <a:ext cx="1963209" cy="4251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61411" y="6089904"/>
            <a:ext cx="246612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5A6478"/>
                </a:solidFill>
                <a:latin typeface="Calibri"/>
              </a:rPr>
              <a:t>ИНН только 9 или 14 цифр</a:t>
            </a:r>
          </a:p>
        </p:txBody>
      </p:sp>
      <p:pic>
        <p:nvPicPr>
          <p:cNvPr id="8" name="Picture 7" descr="photo_6_2026-08-28_16-44-4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9000" y="1691640"/>
            <a:ext cx="1963209" cy="4251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27540" y="6089904"/>
            <a:ext cx="246612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5A6478"/>
                </a:solidFill>
                <a:latin typeface="Calibri"/>
              </a:rPr>
              <a:t>Похожее название уже есть в базе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Бот: регистрация новой точки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A6478"/>
                </a:solidFill>
                <a:latin typeface="Calibri"/>
              </a:rPr>
              <a:t>Если точки нет в базе, агент заводит её по шагам — без свободного ввода</a:t>
            </a:r>
          </a:p>
        </p:txBody>
      </p:sp>
      <p:pic>
        <p:nvPicPr>
          <p:cNvPr id="4" name="Picture 3" descr="photo_7_2026-08-28_16-44-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6741" y="1691640"/>
            <a:ext cx="1963209" cy="4251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95281" y="6089904"/>
            <a:ext cx="246612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5A6478"/>
                </a:solidFill>
                <a:latin typeface="Calibri"/>
              </a:rPr>
              <a:t>Геометка с карты</a:t>
            </a:r>
          </a:p>
        </p:txBody>
      </p:sp>
      <p:pic>
        <p:nvPicPr>
          <p:cNvPr id="6" name="Picture 5" descr="photo_8_2026-08-28_16-44-4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2871" y="1691640"/>
            <a:ext cx="1963209" cy="4251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61411" y="6089904"/>
            <a:ext cx="246612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5A6478"/>
                </a:solidFill>
                <a:latin typeface="Calibri"/>
              </a:rPr>
              <a:t>Регион и область</a:t>
            </a:r>
          </a:p>
        </p:txBody>
      </p:sp>
      <p:pic>
        <p:nvPicPr>
          <p:cNvPr id="8" name="Picture 7" descr="photo_9_2026-08-28_16-44-4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9000" y="1691640"/>
            <a:ext cx="1963209" cy="4251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27540" y="6089904"/>
            <a:ext cx="246612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5A6478"/>
                </a:solidFill>
                <a:latin typeface="Calibri"/>
              </a:rPr>
              <a:t>Округ по выбранной области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Бот: справочники вместо ручного ввода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A6478"/>
                </a:solidFill>
                <a:latin typeface="Calibri"/>
              </a:rPr>
              <a:t>Формат, канал, тип, категория и код доставщика подставляются кнопками</a:t>
            </a:r>
          </a:p>
        </p:txBody>
      </p:sp>
      <p:pic>
        <p:nvPicPr>
          <p:cNvPr id="4" name="Picture 3" descr="photo_10_2026-08-28_16-44-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6741" y="1691640"/>
            <a:ext cx="1963209" cy="4251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95281" y="6089904"/>
            <a:ext cx="246612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5A6478"/>
                </a:solidFill>
                <a:latin typeface="Calibri"/>
              </a:rPr>
              <a:t>Формат торговой точки</a:t>
            </a:r>
          </a:p>
        </p:txBody>
      </p:sp>
      <p:pic>
        <p:nvPicPr>
          <p:cNvPr id="6" name="Picture 5" descr="photo_14_2026-08-28_16-44-4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2871" y="1691640"/>
            <a:ext cx="1963209" cy="4251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61411" y="6089904"/>
            <a:ext cx="246612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5A6478"/>
                </a:solidFill>
                <a:latin typeface="Calibri"/>
              </a:rPr>
              <a:t>Код доставщика по области</a:t>
            </a:r>
          </a:p>
        </p:txBody>
      </p:sp>
      <p:pic>
        <p:nvPicPr>
          <p:cNvPr id="8" name="Picture 7" descr="photo_15_2026-08-28_16-44-4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9000" y="1691640"/>
            <a:ext cx="1963209" cy="4251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27540" y="6089904"/>
            <a:ext cx="246612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5A6478"/>
                </a:solidFill>
                <a:latin typeface="Calibri"/>
              </a:rPr>
              <a:t>Дни визита, максимум три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Бот: заявка уходит администратору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A6478"/>
                </a:solidFill>
                <a:latin typeface="Calibri"/>
              </a:rPr>
              <a:t>Агент видит карточку целиком перед отправкой — администратор получает её в Telegram</a:t>
            </a:r>
          </a:p>
        </p:txBody>
      </p:sp>
      <p:pic>
        <p:nvPicPr>
          <p:cNvPr id="4" name="Picture 3" descr="photo_17_2026-08-28_16-44-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9806" y="1691640"/>
            <a:ext cx="1963209" cy="4251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28346" y="6089904"/>
            <a:ext cx="246612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5A6478"/>
                </a:solidFill>
                <a:latin typeface="Calibri"/>
              </a:rPr>
              <a:t>Проверка перед отправкой</a:t>
            </a:r>
          </a:p>
        </p:txBody>
      </p:sp>
      <p:pic>
        <p:nvPicPr>
          <p:cNvPr id="6" name="Picture 5" descr="photo_18_2026-08-28_16-44-4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1691640"/>
            <a:ext cx="1963209" cy="4251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4476" y="6089904"/>
            <a:ext cx="246612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5A6478"/>
                </a:solidFill>
                <a:latin typeface="Calibri"/>
              </a:rPr>
              <a:t>Готовая заявка у администратора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Приложение: то же самое, но формой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A6478"/>
                </a:solidFill>
                <a:latin typeface="Calibri"/>
              </a:rPr>
              <a:t>Кому удобнее не кнопками в переписке, а привычной формой на экране</a:t>
            </a:r>
          </a:p>
        </p:txBody>
      </p:sp>
      <p:pic>
        <p:nvPicPr>
          <p:cNvPr id="4" name="Picture 3" descr="photo_19_2026-08-28_16-44-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6741" y="1691640"/>
            <a:ext cx="1963209" cy="4251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95281" y="6089904"/>
            <a:ext cx="246612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5A6478"/>
                </a:solidFill>
                <a:latin typeface="Calibri"/>
              </a:rPr>
              <a:t>Вход агента</a:t>
            </a:r>
          </a:p>
        </p:txBody>
      </p:sp>
      <p:pic>
        <p:nvPicPr>
          <p:cNvPr id="6" name="Picture 5" descr="photo_20_2026-08-28_16-44-4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2871" y="1691640"/>
            <a:ext cx="1963209" cy="4251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61411" y="6089904"/>
            <a:ext cx="246612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5A6478"/>
                </a:solidFill>
                <a:latin typeface="Calibri"/>
              </a:rPr>
              <a:t>Проверка точки по ИНН</a:t>
            </a:r>
          </a:p>
        </p:txBody>
      </p:sp>
      <p:pic>
        <p:nvPicPr>
          <p:cNvPr id="8" name="Picture 7" descr="photo_22_2026-08-28_16-44-4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9000" y="1691640"/>
            <a:ext cx="1963209" cy="4251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27540" y="6089904"/>
            <a:ext cx="246612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5A6478"/>
                </a:solidFill>
                <a:latin typeface="Calibri"/>
              </a:rPr>
              <a:t>Точка занята коллегой по бренду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Приложение: регистрация новой точки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A6478"/>
                </a:solidFill>
                <a:latin typeface="Calibri"/>
              </a:rPr>
              <a:t>Проверка названия на дубли, карта для геометки, поиск по справочникам</a:t>
            </a:r>
          </a:p>
        </p:txBody>
      </p:sp>
      <p:pic>
        <p:nvPicPr>
          <p:cNvPr id="4" name="Picture 3" descr="photo_23_2026-08-28_16-44-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6741" y="1691640"/>
            <a:ext cx="1963209" cy="4251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95281" y="6089904"/>
            <a:ext cx="246612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5A6478"/>
                </a:solidFill>
                <a:latin typeface="Calibri"/>
              </a:rPr>
              <a:t>Форма новой точки</a:t>
            </a:r>
          </a:p>
        </p:txBody>
      </p:sp>
      <p:pic>
        <p:nvPicPr>
          <p:cNvPr id="6" name="Picture 5" descr="photo_24_2026-08-28_16-44-4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2871" y="1691640"/>
            <a:ext cx="1963209" cy="4251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61411" y="6089904"/>
            <a:ext cx="246612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5A6478"/>
                </a:solidFill>
                <a:latin typeface="Calibri"/>
              </a:rPr>
              <a:t>Найдено похожее название</a:t>
            </a:r>
          </a:p>
        </p:txBody>
      </p:sp>
      <p:pic>
        <p:nvPicPr>
          <p:cNvPr id="8" name="Picture 7" descr="photo_26_2026-08-28_16-44-4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9000" y="1691640"/>
            <a:ext cx="1963209" cy="4251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27540" y="6089904"/>
            <a:ext cx="246612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5A6478"/>
                </a:solidFill>
                <a:latin typeface="Calibri"/>
              </a:rPr>
              <a:t>Поиск по 213 районам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Приложение: завершение заявки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A6478"/>
                </a:solidFill>
                <a:latin typeface="Calibri"/>
              </a:rPr>
              <a:t>Дни визита, отправка и та же карточка администратору</a:t>
            </a:r>
          </a:p>
        </p:txBody>
      </p:sp>
      <p:pic>
        <p:nvPicPr>
          <p:cNvPr id="4" name="Picture 3" descr="photo_28_2026-08-28_16-44-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6741" y="1691640"/>
            <a:ext cx="1963209" cy="4251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95281" y="6089904"/>
            <a:ext cx="246612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5A6478"/>
                </a:solidFill>
                <a:latin typeface="Calibri"/>
              </a:rPr>
              <a:t>Код доставщика и дни визита</a:t>
            </a:r>
          </a:p>
        </p:txBody>
      </p:sp>
      <p:pic>
        <p:nvPicPr>
          <p:cNvPr id="6" name="Picture 5" descr="photo_29_2026-08-28_16-44-4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2871" y="1691640"/>
            <a:ext cx="1963209" cy="4251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61411" y="6089904"/>
            <a:ext cx="246612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5A6478"/>
                </a:solidFill>
                <a:latin typeface="Calibri"/>
              </a:rPr>
              <a:t>Точка добавлена</a:t>
            </a:r>
          </a:p>
        </p:txBody>
      </p:sp>
      <p:pic>
        <p:nvPicPr>
          <p:cNvPr id="8" name="Picture 7" descr="photo_30_2026-08-28_16-44-4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9000" y="1691640"/>
            <a:ext cx="1963209" cy="4251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27540" y="6089904"/>
            <a:ext cx="246612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5A6478"/>
                </a:solidFill>
                <a:latin typeface="Calibri"/>
              </a:rPr>
              <a:t>Заявка у администратора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1324</Words>
  <Application>Microsoft Office PowerPoint</Application>
  <PresentationFormat>Widescreen</PresentationFormat>
  <Paragraphs>198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WESTEN GROUP</cp:lastModifiedBy>
  <cp:revision>2</cp:revision>
  <dcterms:created xsi:type="dcterms:W3CDTF">2026-08-18T10:13:47Z</dcterms:created>
  <dcterms:modified xsi:type="dcterms:W3CDTF">2026-08-27T09:44:23Z</dcterms:modified>
</cp:coreProperties>
</file>